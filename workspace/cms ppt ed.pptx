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60" r:id="rId5"/>
    <p:sldId id="261" r:id="rId6"/>
    <p:sldId id="262" r:id="rId7"/>
    <p:sldId id="259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imes New Roman Bold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22" autoAdjust="0"/>
  </p:normalViewPr>
  <p:slideViewPr>
    <p:cSldViewPr>
      <p:cViewPr varScale="1">
        <p:scale>
          <a:sx n="52" d="100"/>
          <a:sy n="52" d="100"/>
        </p:scale>
        <p:origin x="98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tepoint.com/offline-web-apps-service-workers-pouchdb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cushiondb.github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Hoodie_%28software%29" TargetMode="External"/><Relationship Id="rId5" Type="http://schemas.openxmlformats.org/officeDocument/2006/relationships/hyperlink" Target="https://github.com/lybekk/offPIM" TargetMode="External"/><Relationship Id="rId4" Type="http://schemas.openxmlformats.org/officeDocument/2006/relationships/hyperlink" Target="https://github.com/FieldDB/FieldDB" TargetMode="External"/><Relationship Id="rId9" Type="http://schemas.openxmlformats.org/officeDocument/2006/relationships/hyperlink" Target="https://arxiv.org/abs/1608.0396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7039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530297"/>
            <a:ext cx="16392228" cy="173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 dirty="0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Offline-First Encrypted Content Management System with Conflict-Free Synchronization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43883" y="6785246"/>
            <a:ext cx="5898563" cy="486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3"/>
              </a:lnSpc>
            </a:pPr>
            <a:r>
              <a:rPr lang="en-US" sz="3024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r>
              <a:rPr lang="en-US" sz="3024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Gayathri K R</a:t>
            </a: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r>
              <a:rPr lang="en-US" sz="3024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Inul Marliya I</a:t>
            </a: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r>
              <a:rPr lang="en-US" sz="3024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 Dharshana S</a:t>
            </a: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r>
              <a:rPr lang="en-US" sz="3024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Jeevika C</a:t>
            </a: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endParaRPr lang="en-US" sz="3024" dirty="0">
              <a:solidFill>
                <a:srgbClr val="3846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endParaRPr lang="en-US" sz="3024" dirty="0">
              <a:solidFill>
                <a:srgbClr val="3846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3094" lvl="1" indent="-326547" algn="just">
              <a:lnSpc>
                <a:spcPts val="4803"/>
              </a:lnSpc>
              <a:buAutoNum type="arabicPeriod"/>
            </a:pPr>
            <a:endParaRPr lang="en-US" sz="3024" dirty="0">
              <a:solidFill>
                <a:srgbClr val="3846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7886" y="2541240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3954661"/>
            <a:ext cx="16392228" cy="542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6"/>
              </a:lnSpc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Management Systems are core tools for authoring, organizing, and publishing digital content, but the expectation of always-on connectivity introduces real risks: work interruption, data loss, and synchronization conflicts when multiple devices or users modify content while offline. An offline-first architecture flips that expectation: local edits are authoritative and safely persisted, while the system performs background synchronization when possible. Security must be tightly coupled with this model: sensitive content should remain unreadable on servers and during transit unless the legitimate user provides the cryptographic keys. Our system seeks to combine reliable offline persistence, user-centric encryption, and deterministic conflict resolution so users can continue to author content with confidence regardless of network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4916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59426" y="2324100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 dirty="0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4681DB4-61B4-7695-FB66-ED7E6872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5599E1-74AE-07C5-80FA-053264E9A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426" y="3619500"/>
            <a:ext cx="16169148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collaborative and mobile-driven world, content creators need tools that remain reliable even without constant internet access. This project presents an offline-first, encrypted Content Management System (CMS) built as a web application using React and a Flask–MongoDB backend. The system supports the creation and management of diverse content types, including text documents, media files, tables, and code snippets. Data is encrypted using AES-256 encryption with a passphrase-based key, ensuring privacy and security. A conflict-free synchronization mechanism based on CRDT (Conflict-free Replicated Data Types) enables seamless multi-user collaboration without overwriting changes. The CMS also supports role-based multi-user access, allowing secure sharing and controlled permissions. Even in the event of lost encryption keys, users can recover their data through secure backup and key-export options. By combining offline capability, robust security, and conflict-safe multi-user sync, this CMS offers a modern and reliable solution for secure, collaborative content management in both connected and disconnected environments.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7886" y="2757934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4171355"/>
            <a:ext cx="16392228" cy="542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6"/>
              </a:lnSpc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CMS platforms assume continuous server connectivity and implement versioning and backups server-side; offline editing is either unsupported or delegated to third-party plugins. When offline capabilities exist, synchronization is frequently handled by middleware such as </a:t>
            </a:r>
            <a:r>
              <a:rPr lang="en-US" sz="3020" dirty="0" err="1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PouchDB</a:t>
            </a: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/CouchDB or by vendor cloud services, which leaves sensitive content exposed in server plaintext or requires complex server-side encryption schemes. Conflict resolution in these systems often relies on last-write-wins or manual merges, which can lead to lost edits. For enterprises and privacy-sensitive users, this model is unsatisfactory: they need reliable offline editing, robust automatic merging of concurrent changes, and client-side confidentiality with minimal reliance on external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177680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41525"/>
            <a:ext cx="16392228" cy="602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6"/>
              </a:lnSpc>
            </a:pPr>
            <a:r>
              <a:rPr lang="en-US" sz="302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 an integrated CMS that provides: (1) a PWA frontend that stores edits locally in IndexedDB; (2) client-side encryption where the user supplies a passphrase that is processed with a strong key-derivation function (e.g., Argon2 or PBKDF2) to derive an AES-GCM symmetric key used for all content encryption/decryption; (3) a CRDT-based document model (JSON CRDT) so concurrent updates always converge without conflicts; and (4) a background sync engine that uploads encrypted CRDT deltas and pulls remote deltas to replay against local state. The server stores only encrypted blobs and CRDT metadata — it never holds plaintext or user keys. For usability, the system includes optional passphrase hinting (non-recoverable secret hints) and per-device session caching of derived keys (encrypted by device-local OS stores) so the user isn't asked for the passphrase every moment.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74" y="-57701"/>
            <a:ext cx="18288000" cy="10287000"/>
            <a:chOff x="203200" y="2641805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203200" y="2641805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38DA3AD-BCBA-CF0E-E479-7A5CC71C794E}"/>
              </a:ext>
            </a:extLst>
          </p:cNvPr>
          <p:cNvSpPr/>
          <p:nvPr/>
        </p:nvSpPr>
        <p:spPr>
          <a:xfrm>
            <a:off x="8338880" y="860083"/>
            <a:ext cx="3200400" cy="173698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Encryption Module</a:t>
            </a:r>
          </a:p>
          <a:p>
            <a:pPr algn="ctr"/>
            <a:r>
              <a:rPr lang="en-US" sz="2400" dirty="0"/>
              <a:t>(AES256</a:t>
            </a:r>
            <a:r>
              <a:rPr lang="en-IN" sz="2400" dirty="0"/>
              <a:t>)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EB6D0-C450-6C78-9C61-C8B1B93F90D2}"/>
              </a:ext>
            </a:extLst>
          </p:cNvPr>
          <p:cNvSpPr/>
          <p:nvPr/>
        </p:nvSpPr>
        <p:spPr>
          <a:xfrm>
            <a:off x="10250166" y="7863391"/>
            <a:ext cx="6743042" cy="13849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Conflict free synchronization</a:t>
            </a:r>
          </a:p>
          <a:p>
            <a:pPr algn="ctr"/>
            <a:r>
              <a:rPr lang="en-US" sz="2800" dirty="0"/>
              <a:t>CRDT algorithm via MongoDB   </a:t>
            </a:r>
            <a:endParaRPr lang="en-IN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9E06EF-F694-C23D-1EF7-FA6C468033D6}"/>
              </a:ext>
            </a:extLst>
          </p:cNvPr>
          <p:cNvSpPr/>
          <p:nvPr/>
        </p:nvSpPr>
        <p:spPr>
          <a:xfrm>
            <a:off x="2374041" y="4206143"/>
            <a:ext cx="3200400" cy="138499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Decryption Module</a:t>
            </a:r>
          </a:p>
          <a:p>
            <a:pPr algn="ctr"/>
            <a:r>
              <a:rPr lang="en-US" sz="2800"/>
              <a:t>(PBKDF2,CryptoJS)</a:t>
            </a:r>
            <a:endParaRPr lang="en-IN" sz="2800" dirty="0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A95A0B4F-12A2-A0D8-A6E9-CEA27C705924}"/>
              </a:ext>
            </a:extLst>
          </p:cNvPr>
          <p:cNvSpPr/>
          <p:nvPr/>
        </p:nvSpPr>
        <p:spPr>
          <a:xfrm>
            <a:off x="14982990" y="3937246"/>
            <a:ext cx="2937759" cy="2020963"/>
          </a:xfrm>
          <a:prstGeom prst="ca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Local encrypted storage</a:t>
            </a:r>
          </a:p>
          <a:p>
            <a:pPr algn="ctr"/>
            <a:r>
              <a:rPr lang="en-US" sz="2400" dirty="0"/>
              <a:t>(Index DB, local files</a:t>
            </a:r>
            <a:r>
              <a:rPr lang="en-US" dirty="0"/>
              <a:t>)</a:t>
            </a:r>
          </a:p>
          <a:p>
            <a:pPr algn="ctr"/>
            <a:endParaRPr lang="en-IN" dirty="0"/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69AC9836-C636-67ED-FE14-26C3C15DAD81}"/>
              </a:ext>
            </a:extLst>
          </p:cNvPr>
          <p:cNvSpPr/>
          <p:nvPr/>
        </p:nvSpPr>
        <p:spPr>
          <a:xfrm>
            <a:off x="8452839" y="3937246"/>
            <a:ext cx="3200400" cy="1898307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ED19A3C1-C988-5B9A-37F6-1B5D21F4123A}"/>
              </a:ext>
            </a:extLst>
          </p:cNvPr>
          <p:cNvSpPr/>
          <p:nvPr/>
        </p:nvSpPr>
        <p:spPr>
          <a:xfrm>
            <a:off x="2052665" y="7696652"/>
            <a:ext cx="3481292" cy="1384994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User output</a:t>
            </a:r>
          </a:p>
          <a:p>
            <a:pPr algn="ctr"/>
            <a:r>
              <a:rPr lang="en-US" sz="2800" dirty="0"/>
              <a:t>(View, Manage content</a:t>
            </a:r>
            <a:r>
              <a:rPr lang="en-US" dirty="0"/>
              <a:t>) </a:t>
            </a:r>
            <a:endParaRPr lang="en-IN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2A008558-17E5-69BA-F191-C6A4168A6444}"/>
              </a:ext>
            </a:extLst>
          </p:cNvPr>
          <p:cNvSpPr/>
          <p:nvPr/>
        </p:nvSpPr>
        <p:spPr>
          <a:xfrm>
            <a:off x="2085760" y="1073192"/>
            <a:ext cx="3528697" cy="1695154"/>
          </a:xfrm>
          <a:prstGeom prst="parallelogram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User input</a:t>
            </a:r>
          </a:p>
          <a:p>
            <a:pPr algn="ctr"/>
            <a:r>
              <a:rPr lang="en-US" sz="2800" dirty="0"/>
              <a:t>(Content , Passphrase)</a:t>
            </a:r>
            <a:endParaRPr lang="en-IN" sz="28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1AF2879-FF19-8803-2C63-3B6D02A0283D}"/>
              </a:ext>
            </a:extLst>
          </p:cNvPr>
          <p:cNvSpPr/>
          <p:nvPr/>
        </p:nvSpPr>
        <p:spPr>
          <a:xfrm>
            <a:off x="10278236" y="6717543"/>
            <a:ext cx="647700" cy="850023"/>
          </a:xfrm>
          <a:prstGeom prst="down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8ED64357-CF74-99F1-BC56-9A7E5CCFFCF7}"/>
              </a:ext>
            </a:extLst>
          </p:cNvPr>
          <p:cNvSpPr/>
          <p:nvPr/>
        </p:nvSpPr>
        <p:spPr>
          <a:xfrm>
            <a:off x="15220133" y="6556379"/>
            <a:ext cx="668800" cy="91716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2862048-D0FA-D57B-5352-C1D6A54C59CF}"/>
              </a:ext>
            </a:extLst>
          </p:cNvPr>
          <p:cNvSpPr/>
          <p:nvPr/>
        </p:nvSpPr>
        <p:spPr>
          <a:xfrm>
            <a:off x="9197140" y="2897117"/>
            <a:ext cx="609600" cy="815866"/>
          </a:xfrm>
          <a:prstGeom prst="down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F14D3F4-8B59-8A7D-C146-007FA70E310B}"/>
              </a:ext>
            </a:extLst>
          </p:cNvPr>
          <p:cNvSpPr/>
          <p:nvPr/>
        </p:nvSpPr>
        <p:spPr>
          <a:xfrm>
            <a:off x="6157447" y="1784340"/>
            <a:ext cx="1447800" cy="629751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726A83EF-6DD0-973B-D19C-5EAD2628FE42}"/>
              </a:ext>
            </a:extLst>
          </p:cNvPr>
          <p:cNvSpPr/>
          <p:nvPr/>
        </p:nvSpPr>
        <p:spPr>
          <a:xfrm>
            <a:off x="6276207" y="4805557"/>
            <a:ext cx="1314838" cy="628366"/>
          </a:xfrm>
          <a:prstGeom prst="lef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Up 41">
            <a:extLst>
              <a:ext uri="{FF2B5EF4-FFF2-40B4-BE49-F238E27FC236}">
                <a16:creationId xmlns:a16="http://schemas.microsoft.com/office/drawing/2014/main" id="{8C872122-A9B4-3A2E-8FFD-E7DB7C651A97}"/>
              </a:ext>
            </a:extLst>
          </p:cNvPr>
          <p:cNvSpPr/>
          <p:nvPr/>
        </p:nvSpPr>
        <p:spPr>
          <a:xfrm>
            <a:off x="15972057" y="6541293"/>
            <a:ext cx="642511" cy="908562"/>
          </a:xfrm>
          <a:prstGeom prst="up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C2B8EA-5650-C2B5-E864-EB1A00160D1C}"/>
              </a:ext>
            </a:extLst>
          </p:cNvPr>
          <p:cNvSpPr txBox="1"/>
          <p:nvPr/>
        </p:nvSpPr>
        <p:spPr>
          <a:xfrm>
            <a:off x="5761825" y="1237360"/>
            <a:ext cx="2869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Encrypt content</a:t>
            </a:r>
            <a:endParaRPr lang="en-IN" sz="2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D7AD75-085D-6EA3-D37F-3A35B713955A}"/>
              </a:ext>
            </a:extLst>
          </p:cNvPr>
          <p:cNvSpPr txBox="1"/>
          <p:nvPr/>
        </p:nvSpPr>
        <p:spPr>
          <a:xfrm>
            <a:off x="11936746" y="2974743"/>
            <a:ext cx="3218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Store locally during low bandwidth</a:t>
            </a:r>
            <a:endParaRPr lang="en-IN" sz="2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7819EC-8ABE-CC2B-0CA9-D87B14B0DA44}"/>
              </a:ext>
            </a:extLst>
          </p:cNvPr>
          <p:cNvSpPr txBox="1"/>
          <p:nvPr/>
        </p:nvSpPr>
        <p:spPr>
          <a:xfrm>
            <a:off x="16631850" y="6734252"/>
            <a:ext cx="1826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Updates local copy</a:t>
            </a:r>
            <a:endParaRPr lang="en-IN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46540C-D5E1-87FA-5460-72D8883D4E3B}"/>
              </a:ext>
            </a:extLst>
          </p:cNvPr>
          <p:cNvSpPr txBox="1"/>
          <p:nvPr/>
        </p:nvSpPr>
        <p:spPr>
          <a:xfrm>
            <a:off x="12097514" y="5271596"/>
            <a:ext cx="2607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 reconnect local data stored</a:t>
            </a:r>
            <a:endParaRPr lang="en-IN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FFB02D-4185-9599-2038-104A3E32DA17}"/>
              </a:ext>
            </a:extLst>
          </p:cNvPr>
          <p:cNvSpPr txBox="1"/>
          <p:nvPr/>
        </p:nvSpPr>
        <p:spPr>
          <a:xfrm>
            <a:off x="8924241" y="6601265"/>
            <a:ext cx="22181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Receive updates</a:t>
            </a:r>
            <a:endParaRPr lang="en-IN" sz="2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5D4846-6BF4-A124-4901-B19BD6670D63}"/>
              </a:ext>
            </a:extLst>
          </p:cNvPr>
          <p:cNvSpPr txBox="1"/>
          <p:nvPr/>
        </p:nvSpPr>
        <p:spPr>
          <a:xfrm>
            <a:off x="1998119" y="5943588"/>
            <a:ext cx="16666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Display decrypted content</a:t>
            </a:r>
            <a:endParaRPr lang="en-IN" sz="2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A1D241-3528-FEED-FED4-56E9B3CAF86F}"/>
              </a:ext>
            </a:extLst>
          </p:cNvPr>
          <p:cNvSpPr txBox="1"/>
          <p:nvPr/>
        </p:nvSpPr>
        <p:spPr>
          <a:xfrm>
            <a:off x="6265894" y="3385281"/>
            <a:ext cx="2179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Retrieve encrypted content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E74362-A6AD-3287-9311-3F7D23F1D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699" y="4672388"/>
            <a:ext cx="1946328" cy="8268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971174-BAC9-23B8-6E6E-3284C7E8C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468" y="1164767"/>
            <a:ext cx="996951" cy="9969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0B44ED-71BB-9681-6126-CC2908CAAD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057" y="3113165"/>
            <a:ext cx="710381" cy="7103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BB3E3C-4573-20E6-B612-24908D0D07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127" y="1163709"/>
            <a:ext cx="1521656" cy="13003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64DAB2-F184-99DA-1E4E-FC358CCA3E3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6463" y="6617498"/>
            <a:ext cx="722215" cy="7222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83B3B7F-5C4D-27BE-96C1-C85D5B0B930B}"/>
              </a:ext>
            </a:extLst>
          </p:cNvPr>
          <p:cNvSpPr txBox="1"/>
          <p:nvPr/>
        </p:nvSpPr>
        <p:spPr>
          <a:xfrm>
            <a:off x="14160608" y="7215668"/>
            <a:ext cx="2041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changes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4BFA65F-5C39-CD4E-BEE2-DF16FA5CDB04}"/>
              </a:ext>
            </a:extLst>
          </p:cNvPr>
          <p:cNvSpPr/>
          <p:nvPr/>
        </p:nvSpPr>
        <p:spPr>
          <a:xfrm>
            <a:off x="12591940" y="3955657"/>
            <a:ext cx="1203686" cy="630507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18821F6-643E-80A0-E9FB-4843473A9AEC}"/>
              </a:ext>
            </a:extLst>
          </p:cNvPr>
          <p:cNvSpPr/>
          <p:nvPr/>
        </p:nvSpPr>
        <p:spPr>
          <a:xfrm>
            <a:off x="3657600" y="6293806"/>
            <a:ext cx="561490" cy="954107"/>
          </a:xfrm>
          <a:prstGeom prst="down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638151A3-7683-E135-5393-AD72C058398A}"/>
              </a:ext>
            </a:extLst>
          </p:cNvPr>
          <p:cNvSpPr/>
          <p:nvPr/>
        </p:nvSpPr>
        <p:spPr>
          <a:xfrm>
            <a:off x="12549773" y="4583388"/>
            <a:ext cx="1123140" cy="630507"/>
          </a:xfrm>
          <a:prstGeom prst="lef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278B5812-F534-4C0C-01BF-86F4D51DC2E0}"/>
              </a:ext>
            </a:extLst>
          </p:cNvPr>
          <p:cNvSpPr/>
          <p:nvPr/>
        </p:nvSpPr>
        <p:spPr>
          <a:xfrm>
            <a:off x="10973539" y="6635364"/>
            <a:ext cx="592306" cy="850023"/>
          </a:xfrm>
          <a:prstGeom prst="up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B20C9B-0C9E-81A7-5A11-4D5B55EDA2BF}"/>
              </a:ext>
            </a:extLst>
          </p:cNvPr>
          <p:cNvSpPr txBox="1"/>
          <p:nvPr/>
        </p:nvSpPr>
        <p:spPr>
          <a:xfrm>
            <a:off x="11674549" y="6468961"/>
            <a:ext cx="1726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Push or pull encrypted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858C12-DB9D-0B08-143B-123AAA50EE1F}"/>
              </a:ext>
            </a:extLst>
          </p:cNvPr>
          <p:cNvSpPr txBox="1"/>
          <p:nvPr/>
        </p:nvSpPr>
        <p:spPr>
          <a:xfrm>
            <a:off x="9765181" y="2806197"/>
            <a:ext cx="1466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Data is stored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47886" y="963960"/>
            <a:ext cx="7126932" cy="173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 dirty="0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Description</a:t>
            </a:r>
          </a:p>
          <a:p>
            <a:pPr algn="l">
              <a:lnSpc>
                <a:spcPts val="7000"/>
              </a:lnSpc>
            </a:pPr>
            <a:endParaRPr lang="en-US" sz="5562" b="1" dirty="0">
              <a:solidFill>
                <a:srgbClr val="2E3C4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97521" y="2536920"/>
            <a:ext cx="5321647" cy="3863727"/>
            <a:chOff x="0" y="0"/>
            <a:chExt cx="7095530" cy="5151637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7044690" cy="5100828"/>
            </a:xfrm>
            <a:custGeom>
              <a:avLst/>
              <a:gdLst/>
              <a:ahLst/>
              <a:cxnLst/>
              <a:rect l="l" t="t" r="r" b="b"/>
              <a:pathLst>
                <a:path w="7044690" h="5100828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6800215" y="0"/>
                  </a:lnTo>
                  <a:cubicBezTo>
                    <a:pt x="6935216" y="0"/>
                    <a:pt x="7044690" y="109220"/>
                    <a:pt x="7044690" y="243840"/>
                  </a:cubicBezTo>
                  <a:lnTo>
                    <a:pt x="7044690" y="4856988"/>
                  </a:lnTo>
                  <a:cubicBezTo>
                    <a:pt x="7044690" y="4991608"/>
                    <a:pt x="6935216" y="5100828"/>
                    <a:pt x="6800215" y="5100828"/>
                  </a:cubicBezTo>
                  <a:lnTo>
                    <a:pt x="244475" y="5100828"/>
                  </a:lnTo>
                  <a:cubicBezTo>
                    <a:pt x="109474" y="5100828"/>
                    <a:pt x="0" y="4991608"/>
                    <a:pt x="0" y="48569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095490" cy="5151628"/>
            </a:xfrm>
            <a:custGeom>
              <a:avLst/>
              <a:gdLst/>
              <a:ahLst/>
              <a:cxnLst/>
              <a:rect l="l" t="t" r="r" b="b"/>
              <a:pathLst>
                <a:path w="7095490" h="5151628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6825615" y="0"/>
                  </a:lnTo>
                  <a:lnTo>
                    <a:pt x="6825615" y="25400"/>
                  </a:lnTo>
                  <a:lnTo>
                    <a:pt x="6825615" y="0"/>
                  </a:lnTo>
                  <a:cubicBezTo>
                    <a:pt x="6974586" y="0"/>
                    <a:pt x="7095490" y="120523"/>
                    <a:pt x="7095490" y="269240"/>
                  </a:cubicBezTo>
                  <a:lnTo>
                    <a:pt x="7070090" y="269240"/>
                  </a:lnTo>
                  <a:lnTo>
                    <a:pt x="7095490" y="269240"/>
                  </a:lnTo>
                  <a:lnTo>
                    <a:pt x="7095490" y="4882388"/>
                  </a:lnTo>
                  <a:lnTo>
                    <a:pt x="7070090" y="4882388"/>
                  </a:lnTo>
                  <a:lnTo>
                    <a:pt x="7095490" y="4882388"/>
                  </a:lnTo>
                  <a:cubicBezTo>
                    <a:pt x="7095490" y="5031105"/>
                    <a:pt x="6974586" y="5151628"/>
                    <a:pt x="6825615" y="5151628"/>
                  </a:cubicBezTo>
                  <a:lnTo>
                    <a:pt x="6825615" y="5126228"/>
                  </a:lnTo>
                  <a:lnTo>
                    <a:pt x="6825615" y="5151628"/>
                  </a:lnTo>
                  <a:lnTo>
                    <a:pt x="269875" y="5151628"/>
                  </a:lnTo>
                  <a:lnTo>
                    <a:pt x="269875" y="5126228"/>
                  </a:lnTo>
                  <a:lnTo>
                    <a:pt x="269875" y="5151628"/>
                  </a:lnTo>
                  <a:cubicBezTo>
                    <a:pt x="120904" y="5151628"/>
                    <a:pt x="0" y="5031105"/>
                    <a:pt x="0" y="48823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882388"/>
                  </a:lnTo>
                  <a:lnTo>
                    <a:pt x="25400" y="4882388"/>
                  </a:lnTo>
                  <a:lnTo>
                    <a:pt x="50800" y="4882388"/>
                  </a:lnTo>
                  <a:cubicBezTo>
                    <a:pt x="50800" y="5002911"/>
                    <a:pt x="148844" y="5100828"/>
                    <a:pt x="269875" y="5100828"/>
                  </a:cubicBezTo>
                  <a:lnTo>
                    <a:pt x="6825615" y="5100828"/>
                  </a:lnTo>
                  <a:cubicBezTo>
                    <a:pt x="6946647" y="5100828"/>
                    <a:pt x="7044690" y="5002911"/>
                    <a:pt x="7044690" y="4882388"/>
                  </a:cubicBezTo>
                  <a:lnTo>
                    <a:pt x="7044690" y="269240"/>
                  </a:lnTo>
                  <a:cubicBezTo>
                    <a:pt x="7044690" y="148717"/>
                    <a:pt x="6946647" y="50800"/>
                    <a:pt x="6825615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09786" y="2548830"/>
            <a:ext cx="152400" cy="3825628"/>
            <a:chOff x="0" y="0"/>
            <a:chExt cx="203200" cy="5100837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03200" cy="5100828"/>
            </a:xfrm>
            <a:custGeom>
              <a:avLst/>
              <a:gdLst/>
              <a:ahLst/>
              <a:cxnLst/>
              <a:rect l="l" t="t" r="r" b="b"/>
              <a:pathLst>
                <a:path w="203200" h="5100828">
                  <a:moveTo>
                    <a:pt x="0" y="0"/>
                  </a:moveTo>
                  <a:lnTo>
                    <a:pt x="203200" y="0"/>
                  </a:lnTo>
                  <a:lnTo>
                    <a:pt x="203200" y="5100828"/>
                  </a:lnTo>
                  <a:lnTo>
                    <a:pt x="0" y="510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" b="-4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371005" y="2771924"/>
            <a:ext cx="3563391" cy="868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Types of supported content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83102" y="2529780"/>
            <a:ext cx="5321647" cy="3863727"/>
            <a:chOff x="0" y="0"/>
            <a:chExt cx="7095530" cy="5151637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7044690" cy="5100828"/>
            </a:xfrm>
            <a:custGeom>
              <a:avLst/>
              <a:gdLst/>
              <a:ahLst/>
              <a:cxnLst/>
              <a:rect l="l" t="t" r="r" b="b"/>
              <a:pathLst>
                <a:path w="7044690" h="5100828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6800215" y="0"/>
                  </a:lnTo>
                  <a:cubicBezTo>
                    <a:pt x="6935216" y="0"/>
                    <a:pt x="7044690" y="109220"/>
                    <a:pt x="7044690" y="243840"/>
                  </a:cubicBezTo>
                  <a:lnTo>
                    <a:pt x="7044690" y="4856988"/>
                  </a:lnTo>
                  <a:cubicBezTo>
                    <a:pt x="7044690" y="4991608"/>
                    <a:pt x="6935216" y="5100828"/>
                    <a:pt x="6800215" y="5100828"/>
                  </a:cubicBezTo>
                  <a:lnTo>
                    <a:pt x="244475" y="5100828"/>
                  </a:lnTo>
                  <a:cubicBezTo>
                    <a:pt x="109474" y="5100828"/>
                    <a:pt x="0" y="4991608"/>
                    <a:pt x="0" y="48569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095490" cy="5151628"/>
            </a:xfrm>
            <a:custGeom>
              <a:avLst/>
              <a:gdLst/>
              <a:ahLst/>
              <a:cxnLst/>
              <a:rect l="l" t="t" r="r" b="b"/>
              <a:pathLst>
                <a:path w="7095490" h="5151628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6825615" y="0"/>
                  </a:lnTo>
                  <a:lnTo>
                    <a:pt x="6825615" y="25400"/>
                  </a:lnTo>
                  <a:lnTo>
                    <a:pt x="6825615" y="0"/>
                  </a:lnTo>
                  <a:cubicBezTo>
                    <a:pt x="6974586" y="0"/>
                    <a:pt x="7095490" y="120523"/>
                    <a:pt x="7095490" y="269240"/>
                  </a:cubicBezTo>
                  <a:lnTo>
                    <a:pt x="7070090" y="269240"/>
                  </a:lnTo>
                  <a:lnTo>
                    <a:pt x="7095490" y="269240"/>
                  </a:lnTo>
                  <a:lnTo>
                    <a:pt x="7095490" y="4882388"/>
                  </a:lnTo>
                  <a:lnTo>
                    <a:pt x="7070090" y="4882388"/>
                  </a:lnTo>
                  <a:lnTo>
                    <a:pt x="7095490" y="4882388"/>
                  </a:lnTo>
                  <a:cubicBezTo>
                    <a:pt x="7095490" y="5031105"/>
                    <a:pt x="6974586" y="5151628"/>
                    <a:pt x="6825615" y="5151628"/>
                  </a:cubicBezTo>
                  <a:lnTo>
                    <a:pt x="6825615" y="5126228"/>
                  </a:lnTo>
                  <a:lnTo>
                    <a:pt x="6825615" y="5151628"/>
                  </a:lnTo>
                  <a:lnTo>
                    <a:pt x="269875" y="5151628"/>
                  </a:lnTo>
                  <a:lnTo>
                    <a:pt x="269875" y="5126228"/>
                  </a:lnTo>
                  <a:lnTo>
                    <a:pt x="269875" y="5151628"/>
                  </a:lnTo>
                  <a:cubicBezTo>
                    <a:pt x="120904" y="5151628"/>
                    <a:pt x="0" y="5031105"/>
                    <a:pt x="0" y="48823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882388"/>
                  </a:lnTo>
                  <a:lnTo>
                    <a:pt x="25400" y="4882388"/>
                  </a:lnTo>
                  <a:lnTo>
                    <a:pt x="50800" y="4882388"/>
                  </a:lnTo>
                  <a:cubicBezTo>
                    <a:pt x="50800" y="5002911"/>
                    <a:pt x="148844" y="5100828"/>
                    <a:pt x="269875" y="5100828"/>
                  </a:cubicBezTo>
                  <a:lnTo>
                    <a:pt x="6825615" y="5100828"/>
                  </a:lnTo>
                  <a:cubicBezTo>
                    <a:pt x="6946647" y="5100828"/>
                    <a:pt x="7044690" y="5002911"/>
                    <a:pt x="7044690" y="4882388"/>
                  </a:cubicBezTo>
                  <a:lnTo>
                    <a:pt x="7044690" y="269240"/>
                  </a:lnTo>
                  <a:cubicBezTo>
                    <a:pt x="7044690" y="148717"/>
                    <a:pt x="6946647" y="50800"/>
                    <a:pt x="6825615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464052" y="2548830"/>
            <a:ext cx="152400" cy="3825628"/>
            <a:chOff x="0" y="0"/>
            <a:chExt cx="203200" cy="5100837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203200" cy="5100828"/>
            </a:xfrm>
            <a:custGeom>
              <a:avLst/>
              <a:gdLst/>
              <a:ahLst/>
              <a:cxnLst/>
              <a:rect l="l" t="t" r="r" b="b"/>
              <a:pathLst>
                <a:path w="203200" h="5100828">
                  <a:moveTo>
                    <a:pt x="0" y="0"/>
                  </a:moveTo>
                  <a:lnTo>
                    <a:pt x="203200" y="0"/>
                  </a:lnTo>
                  <a:lnTo>
                    <a:pt x="203200" y="5100828"/>
                  </a:lnTo>
                  <a:lnTo>
                    <a:pt x="0" y="510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" b="-44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6925270" y="2771924"/>
            <a:ext cx="3563391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authentication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25270" y="3351014"/>
            <a:ext cx="4551610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endParaRPr lang="en-US" sz="2125" dirty="0">
              <a:solidFill>
                <a:srgbClr val="3846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2037367" y="2529780"/>
            <a:ext cx="5321796" cy="3863727"/>
            <a:chOff x="0" y="0"/>
            <a:chExt cx="7095728" cy="5151637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7044944" cy="5100828"/>
            </a:xfrm>
            <a:custGeom>
              <a:avLst/>
              <a:gdLst/>
              <a:ahLst/>
              <a:cxnLst/>
              <a:rect l="l" t="t" r="r" b="b"/>
              <a:pathLst>
                <a:path w="7044944" h="5100828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6800469" y="0"/>
                  </a:lnTo>
                  <a:cubicBezTo>
                    <a:pt x="6935470" y="0"/>
                    <a:pt x="7044944" y="109220"/>
                    <a:pt x="7044944" y="243840"/>
                  </a:cubicBezTo>
                  <a:lnTo>
                    <a:pt x="7044944" y="4856988"/>
                  </a:lnTo>
                  <a:cubicBezTo>
                    <a:pt x="7044944" y="4991608"/>
                    <a:pt x="6935470" y="5100828"/>
                    <a:pt x="6800469" y="5100828"/>
                  </a:cubicBezTo>
                  <a:lnTo>
                    <a:pt x="244475" y="5100828"/>
                  </a:lnTo>
                  <a:cubicBezTo>
                    <a:pt x="109474" y="5100828"/>
                    <a:pt x="0" y="4991608"/>
                    <a:pt x="0" y="48569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095744" cy="5151628"/>
            </a:xfrm>
            <a:custGeom>
              <a:avLst/>
              <a:gdLst/>
              <a:ahLst/>
              <a:cxnLst/>
              <a:rect l="l" t="t" r="r" b="b"/>
              <a:pathLst>
                <a:path w="7095744" h="5151628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6825869" y="0"/>
                  </a:lnTo>
                  <a:lnTo>
                    <a:pt x="6825869" y="25400"/>
                  </a:lnTo>
                  <a:lnTo>
                    <a:pt x="6825869" y="0"/>
                  </a:lnTo>
                  <a:cubicBezTo>
                    <a:pt x="6974839" y="0"/>
                    <a:pt x="7095744" y="120523"/>
                    <a:pt x="7095744" y="269240"/>
                  </a:cubicBezTo>
                  <a:lnTo>
                    <a:pt x="7070344" y="269240"/>
                  </a:lnTo>
                  <a:lnTo>
                    <a:pt x="7095744" y="269240"/>
                  </a:lnTo>
                  <a:lnTo>
                    <a:pt x="7095744" y="4882388"/>
                  </a:lnTo>
                  <a:lnTo>
                    <a:pt x="7070344" y="4882388"/>
                  </a:lnTo>
                  <a:lnTo>
                    <a:pt x="7095744" y="4882388"/>
                  </a:lnTo>
                  <a:cubicBezTo>
                    <a:pt x="7095744" y="5031105"/>
                    <a:pt x="6974839" y="5151628"/>
                    <a:pt x="6825869" y="5151628"/>
                  </a:cubicBezTo>
                  <a:lnTo>
                    <a:pt x="6825869" y="5126228"/>
                  </a:lnTo>
                  <a:lnTo>
                    <a:pt x="6825869" y="5151628"/>
                  </a:lnTo>
                  <a:lnTo>
                    <a:pt x="269875" y="5151628"/>
                  </a:lnTo>
                  <a:lnTo>
                    <a:pt x="269875" y="5126228"/>
                  </a:lnTo>
                  <a:lnTo>
                    <a:pt x="269875" y="5151628"/>
                  </a:lnTo>
                  <a:cubicBezTo>
                    <a:pt x="120904" y="5151628"/>
                    <a:pt x="0" y="5031105"/>
                    <a:pt x="0" y="48823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882388"/>
                  </a:lnTo>
                  <a:lnTo>
                    <a:pt x="25400" y="4882388"/>
                  </a:lnTo>
                  <a:lnTo>
                    <a:pt x="50800" y="4882388"/>
                  </a:lnTo>
                  <a:cubicBezTo>
                    <a:pt x="50800" y="5002911"/>
                    <a:pt x="148844" y="5100828"/>
                    <a:pt x="269875" y="5100828"/>
                  </a:cubicBezTo>
                  <a:lnTo>
                    <a:pt x="6825869" y="5100828"/>
                  </a:lnTo>
                  <a:cubicBezTo>
                    <a:pt x="6946900" y="5100828"/>
                    <a:pt x="7044944" y="5002911"/>
                    <a:pt x="7044944" y="4882388"/>
                  </a:cubicBezTo>
                  <a:lnTo>
                    <a:pt x="7044944" y="269240"/>
                  </a:lnTo>
                  <a:cubicBezTo>
                    <a:pt x="7044944" y="148717"/>
                    <a:pt x="6946900" y="50800"/>
                    <a:pt x="6825869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2018317" y="2548830"/>
            <a:ext cx="152400" cy="3825628"/>
            <a:chOff x="0" y="0"/>
            <a:chExt cx="203200" cy="5100837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203200" cy="5100828"/>
            </a:xfrm>
            <a:custGeom>
              <a:avLst/>
              <a:gdLst/>
              <a:ahLst/>
              <a:cxnLst/>
              <a:rect l="l" t="t" r="r" b="b"/>
              <a:pathLst>
                <a:path w="203200" h="5100828">
                  <a:moveTo>
                    <a:pt x="0" y="0"/>
                  </a:moveTo>
                  <a:lnTo>
                    <a:pt x="203200" y="0"/>
                  </a:lnTo>
                  <a:lnTo>
                    <a:pt x="203200" y="5100828"/>
                  </a:lnTo>
                  <a:lnTo>
                    <a:pt x="0" y="510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" b="-44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2479536" y="2771925"/>
            <a:ext cx="4551760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 input and formatting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79536" y="3351014"/>
            <a:ext cx="4551760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endParaRPr lang="en-US" sz="2125" dirty="0">
              <a:solidFill>
                <a:srgbClr val="3846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88146" y="6655016"/>
            <a:ext cx="8155854" cy="3289084"/>
            <a:chOff x="0" y="0"/>
            <a:chExt cx="10798373" cy="3418087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10747629" cy="3367278"/>
            </a:xfrm>
            <a:custGeom>
              <a:avLst/>
              <a:gdLst/>
              <a:ahLst/>
              <a:cxnLst/>
              <a:rect l="l" t="t" r="r" b="b"/>
              <a:pathLst>
                <a:path w="10747629" h="336727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10501249" y="0"/>
                  </a:lnTo>
                  <a:cubicBezTo>
                    <a:pt x="10637266" y="0"/>
                    <a:pt x="10747629" y="109220"/>
                    <a:pt x="10747629" y="243840"/>
                  </a:cubicBezTo>
                  <a:lnTo>
                    <a:pt x="10747629" y="3123438"/>
                  </a:lnTo>
                  <a:cubicBezTo>
                    <a:pt x="10747629" y="3258058"/>
                    <a:pt x="10637393" y="3367278"/>
                    <a:pt x="10501249" y="3367278"/>
                  </a:cubicBezTo>
                  <a:lnTo>
                    <a:pt x="246380" y="3367278"/>
                  </a:lnTo>
                  <a:cubicBezTo>
                    <a:pt x="110363" y="3367278"/>
                    <a:pt x="0" y="3258058"/>
                    <a:pt x="0" y="31234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798429" cy="3418078"/>
            </a:xfrm>
            <a:custGeom>
              <a:avLst/>
              <a:gdLst/>
              <a:ahLst/>
              <a:cxnLst/>
              <a:rect l="l" t="t" r="r" b="b"/>
              <a:pathLst>
                <a:path w="10798429" h="341807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10526649" y="0"/>
                  </a:lnTo>
                  <a:lnTo>
                    <a:pt x="10526649" y="25400"/>
                  </a:lnTo>
                  <a:lnTo>
                    <a:pt x="10526649" y="0"/>
                  </a:lnTo>
                  <a:cubicBezTo>
                    <a:pt x="10676509" y="0"/>
                    <a:pt x="10798429" y="120269"/>
                    <a:pt x="10798429" y="269240"/>
                  </a:cubicBezTo>
                  <a:lnTo>
                    <a:pt x="10773029" y="269240"/>
                  </a:lnTo>
                  <a:lnTo>
                    <a:pt x="10798429" y="269240"/>
                  </a:lnTo>
                  <a:lnTo>
                    <a:pt x="10798429" y="3148838"/>
                  </a:lnTo>
                  <a:lnTo>
                    <a:pt x="10773029" y="3148838"/>
                  </a:lnTo>
                  <a:lnTo>
                    <a:pt x="10798429" y="3148838"/>
                  </a:lnTo>
                  <a:cubicBezTo>
                    <a:pt x="10798429" y="3297809"/>
                    <a:pt x="10676509" y="3418078"/>
                    <a:pt x="10526649" y="3418078"/>
                  </a:cubicBezTo>
                  <a:lnTo>
                    <a:pt x="10526649" y="3392678"/>
                  </a:lnTo>
                  <a:lnTo>
                    <a:pt x="10526649" y="3418078"/>
                  </a:lnTo>
                  <a:lnTo>
                    <a:pt x="271780" y="3418078"/>
                  </a:lnTo>
                  <a:lnTo>
                    <a:pt x="271780" y="3392678"/>
                  </a:lnTo>
                  <a:lnTo>
                    <a:pt x="271780" y="3418078"/>
                  </a:lnTo>
                  <a:cubicBezTo>
                    <a:pt x="121920" y="3418078"/>
                    <a:pt x="0" y="3297809"/>
                    <a:pt x="0" y="31488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48838"/>
                  </a:lnTo>
                  <a:lnTo>
                    <a:pt x="25400" y="3148838"/>
                  </a:lnTo>
                  <a:lnTo>
                    <a:pt x="50800" y="3148838"/>
                  </a:lnTo>
                  <a:cubicBezTo>
                    <a:pt x="50800" y="3269234"/>
                    <a:pt x="149479" y="3367278"/>
                    <a:pt x="271780" y="3367278"/>
                  </a:cubicBezTo>
                  <a:lnTo>
                    <a:pt x="10526649" y="3367278"/>
                  </a:lnTo>
                  <a:cubicBezTo>
                    <a:pt x="10648950" y="3367278"/>
                    <a:pt x="10747629" y="3269234"/>
                    <a:pt x="10747629" y="3148838"/>
                  </a:cubicBezTo>
                  <a:lnTo>
                    <a:pt x="10747629" y="269240"/>
                  </a:lnTo>
                  <a:cubicBezTo>
                    <a:pt x="10747629" y="148844"/>
                    <a:pt x="10648950" y="50800"/>
                    <a:pt x="10526649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866036" y="6645176"/>
            <a:ext cx="196150" cy="3250455"/>
            <a:chOff x="0" y="0"/>
            <a:chExt cx="203200" cy="3367287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203200" cy="3367278"/>
            </a:xfrm>
            <a:custGeom>
              <a:avLst/>
              <a:gdLst/>
              <a:ahLst/>
              <a:cxnLst/>
              <a:rect l="l" t="t" r="r" b="b"/>
              <a:pathLst>
                <a:path w="203200" h="3367278">
                  <a:moveTo>
                    <a:pt x="0" y="0"/>
                  </a:moveTo>
                  <a:lnTo>
                    <a:pt x="203200" y="0"/>
                  </a:lnTo>
                  <a:lnTo>
                    <a:pt x="203200" y="3367278"/>
                  </a:lnTo>
                  <a:lnTo>
                    <a:pt x="0" y="336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" r="-26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371005" y="6868269"/>
            <a:ext cx="7696913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Encryption and Conflict free Synchronization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71005" y="7447360"/>
            <a:ext cx="7328744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endParaRPr lang="en-US" sz="2125" dirty="0">
              <a:solidFill>
                <a:srgbClr val="3846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9201075" y="6688562"/>
            <a:ext cx="8098929" cy="3231088"/>
            <a:chOff x="0" y="0"/>
            <a:chExt cx="10798572" cy="3418087"/>
          </a:xfrm>
        </p:grpSpPr>
        <p:sp>
          <p:nvSpPr>
            <p:cNvPr id="36" name="Freeform 36"/>
            <p:cNvSpPr/>
            <p:nvPr/>
          </p:nvSpPr>
          <p:spPr>
            <a:xfrm>
              <a:off x="25400" y="25400"/>
              <a:ext cx="10747756" cy="3367278"/>
            </a:xfrm>
            <a:custGeom>
              <a:avLst/>
              <a:gdLst/>
              <a:ahLst/>
              <a:cxnLst/>
              <a:rect l="l" t="t" r="r" b="b"/>
              <a:pathLst>
                <a:path w="10747756" h="3367278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10501376" y="0"/>
                  </a:lnTo>
                  <a:cubicBezTo>
                    <a:pt x="10637393" y="0"/>
                    <a:pt x="10747756" y="109220"/>
                    <a:pt x="10747756" y="243840"/>
                  </a:cubicBezTo>
                  <a:lnTo>
                    <a:pt x="10747756" y="3123438"/>
                  </a:lnTo>
                  <a:cubicBezTo>
                    <a:pt x="10747756" y="3258058"/>
                    <a:pt x="10637520" y="3367278"/>
                    <a:pt x="10501376" y="3367278"/>
                  </a:cubicBezTo>
                  <a:lnTo>
                    <a:pt x="246380" y="3367278"/>
                  </a:lnTo>
                  <a:cubicBezTo>
                    <a:pt x="110363" y="3367278"/>
                    <a:pt x="0" y="3258058"/>
                    <a:pt x="0" y="312343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IN" dirty="0"/>
                <a:t>j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10798556" cy="3418078"/>
            </a:xfrm>
            <a:custGeom>
              <a:avLst/>
              <a:gdLst/>
              <a:ahLst/>
              <a:cxnLst/>
              <a:rect l="l" t="t" r="r" b="b"/>
              <a:pathLst>
                <a:path w="10798556" h="3418078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10526776" y="0"/>
                  </a:lnTo>
                  <a:lnTo>
                    <a:pt x="10526776" y="25400"/>
                  </a:lnTo>
                  <a:lnTo>
                    <a:pt x="10526776" y="0"/>
                  </a:lnTo>
                  <a:cubicBezTo>
                    <a:pt x="10676636" y="0"/>
                    <a:pt x="10798556" y="120269"/>
                    <a:pt x="10798556" y="269240"/>
                  </a:cubicBezTo>
                  <a:lnTo>
                    <a:pt x="10773156" y="269240"/>
                  </a:lnTo>
                  <a:lnTo>
                    <a:pt x="10798556" y="269240"/>
                  </a:lnTo>
                  <a:lnTo>
                    <a:pt x="10798556" y="3148838"/>
                  </a:lnTo>
                  <a:lnTo>
                    <a:pt x="10773156" y="3148838"/>
                  </a:lnTo>
                  <a:lnTo>
                    <a:pt x="10798556" y="3148838"/>
                  </a:lnTo>
                  <a:cubicBezTo>
                    <a:pt x="10798556" y="3297809"/>
                    <a:pt x="10676636" y="3418078"/>
                    <a:pt x="10526776" y="3418078"/>
                  </a:cubicBezTo>
                  <a:lnTo>
                    <a:pt x="10526776" y="3392678"/>
                  </a:lnTo>
                  <a:lnTo>
                    <a:pt x="10526776" y="3418078"/>
                  </a:lnTo>
                  <a:lnTo>
                    <a:pt x="271780" y="3418078"/>
                  </a:lnTo>
                  <a:lnTo>
                    <a:pt x="271780" y="3392678"/>
                  </a:lnTo>
                  <a:lnTo>
                    <a:pt x="271780" y="3418078"/>
                  </a:lnTo>
                  <a:cubicBezTo>
                    <a:pt x="121920" y="3418078"/>
                    <a:pt x="0" y="3297809"/>
                    <a:pt x="0" y="31488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48838"/>
                  </a:lnTo>
                  <a:lnTo>
                    <a:pt x="25400" y="3148838"/>
                  </a:lnTo>
                  <a:lnTo>
                    <a:pt x="50800" y="3148838"/>
                  </a:lnTo>
                  <a:cubicBezTo>
                    <a:pt x="50800" y="3269234"/>
                    <a:pt x="149479" y="3367278"/>
                    <a:pt x="271780" y="3367278"/>
                  </a:cubicBezTo>
                  <a:lnTo>
                    <a:pt x="10526776" y="3367278"/>
                  </a:lnTo>
                  <a:cubicBezTo>
                    <a:pt x="10649077" y="3367278"/>
                    <a:pt x="10747756" y="3269234"/>
                    <a:pt x="10747756" y="3148838"/>
                  </a:cubicBezTo>
                  <a:lnTo>
                    <a:pt x="10747756" y="269240"/>
                  </a:lnTo>
                  <a:cubicBezTo>
                    <a:pt x="10747756" y="148844"/>
                    <a:pt x="10649077" y="50800"/>
                    <a:pt x="10526776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9197435" y="6645176"/>
            <a:ext cx="196150" cy="3250459"/>
            <a:chOff x="0" y="0"/>
            <a:chExt cx="203200" cy="3367287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203200" cy="3367278"/>
            </a:xfrm>
            <a:custGeom>
              <a:avLst/>
              <a:gdLst/>
              <a:ahLst/>
              <a:cxnLst/>
              <a:rect l="l" t="t" r="r" b="b"/>
              <a:pathLst>
                <a:path w="203200" h="3367278">
                  <a:moveTo>
                    <a:pt x="0" y="0"/>
                  </a:moveTo>
                  <a:lnTo>
                    <a:pt x="203200" y="0"/>
                  </a:lnTo>
                  <a:lnTo>
                    <a:pt x="203200" y="3367278"/>
                  </a:lnTo>
                  <a:lnTo>
                    <a:pt x="0" y="336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" r="-26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9702404" y="6868270"/>
            <a:ext cx="5689996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 user access handling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CFCDD6-215A-1683-53C0-54E9677C1E5C}"/>
              </a:ext>
            </a:extLst>
          </p:cNvPr>
          <p:cNvSpPr txBox="1"/>
          <p:nvPr/>
        </p:nvSpPr>
        <p:spPr>
          <a:xfrm>
            <a:off x="9631856" y="7644027"/>
            <a:ext cx="7255642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70" dirty="0"/>
              <a:t>Each user has their own encryption key, shared content encrypted with a shared key only for authorised users. Sync engine merges edits from multiple users  while preserving changes.</a:t>
            </a:r>
          </a:p>
          <a:p>
            <a:r>
              <a:rPr lang="en-IN" sz="2070" dirty="0"/>
              <a:t>When user views content, it is fetched from local storage or server, decrypted on client side and displayed in correct format. </a:t>
            </a: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2BA791EE-02CF-5C2A-AB56-6FBA54AE1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1" y="518207"/>
            <a:ext cx="2971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4D2883-250E-5B11-CDAC-075493494171}"/>
              </a:ext>
            </a:extLst>
          </p:cNvPr>
          <p:cNvSpPr txBox="1"/>
          <p:nvPr/>
        </p:nvSpPr>
        <p:spPr>
          <a:xfrm>
            <a:off x="1308282" y="3865920"/>
            <a:ext cx="47904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Text based</a:t>
            </a:r>
          </a:p>
          <a:p>
            <a:r>
              <a:rPr lang="en-IN" sz="2800" dirty="0"/>
              <a:t>Media content, Structured data</a:t>
            </a:r>
          </a:p>
          <a:p>
            <a:r>
              <a:rPr lang="en-IN" sz="2800" dirty="0"/>
              <a:t>Code  </a:t>
            </a:r>
          </a:p>
          <a:p>
            <a:r>
              <a:rPr lang="en-IN" sz="2800" dirty="0"/>
              <a:t>Mixed content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0F529B-56FB-B2E7-594F-7B14F1274C3C}"/>
              </a:ext>
            </a:extLst>
          </p:cNvPr>
          <p:cNvSpPr txBox="1"/>
          <p:nvPr/>
        </p:nvSpPr>
        <p:spPr>
          <a:xfrm>
            <a:off x="6868140" y="3475359"/>
            <a:ext cx="48603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User logins with pass phrase.</a:t>
            </a:r>
          </a:p>
          <a:p>
            <a:r>
              <a:rPr lang="en-IN" sz="2000" dirty="0"/>
              <a:t>Encryption key is generated from passphrase</a:t>
            </a:r>
          </a:p>
          <a:p>
            <a:r>
              <a:rPr lang="en-IN" sz="2000" dirty="0"/>
              <a:t>It will be used to encrypt or decrypt the content.</a:t>
            </a:r>
          </a:p>
          <a:p>
            <a:r>
              <a:rPr lang="en-IN" sz="2000" dirty="0"/>
              <a:t>User chooses the type of content they want to manipulate.</a:t>
            </a:r>
          </a:p>
          <a:p>
            <a:r>
              <a:rPr lang="en-IN" sz="2000" dirty="0"/>
              <a:t>The front end loads the editor , input fields for that content type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AC7E2B-AF30-E8C8-01A6-A43254850C4B}"/>
              </a:ext>
            </a:extLst>
          </p:cNvPr>
          <p:cNvSpPr txBox="1"/>
          <p:nvPr/>
        </p:nvSpPr>
        <p:spPr>
          <a:xfrm>
            <a:off x="12460484" y="3579402"/>
            <a:ext cx="4456511" cy="264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70" dirty="0"/>
              <a:t>Rich text editing tools</a:t>
            </a:r>
          </a:p>
          <a:p>
            <a:r>
              <a:rPr lang="en-IN" sz="2070" dirty="0"/>
              <a:t>Drag and drop or file picker for media upload</a:t>
            </a:r>
          </a:p>
          <a:p>
            <a:r>
              <a:rPr lang="en-IN" sz="2070" dirty="0"/>
              <a:t>Table editor for entering rows and columns</a:t>
            </a:r>
          </a:p>
          <a:p>
            <a:r>
              <a:rPr lang="en-IN" sz="2070" dirty="0"/>
              <a:t>Language selector and syntax highlighting for code related content</a:t>
            </a:r>
          </a:p>
          <a:p>
            <a:endParaRPr lang="en-IN" sz="207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0E7A98-7B59-A0C9-8FF1-8667EA93D00A}"/>
              </a:ext>
            </a:extLst>
          </p:cNvPr>
          <p:cNvSpPr txBox="1"/>
          <p:nvPr/>
        </p:nvSpPr>
        <p:spPr>
          <a:xfrm>
            <a:off x="1317612" y="7478086"/>
            <a:ext cx="73938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AES-256 encryption applied to each content using key from passphrase(PBKDF2). Encrypted content stored locally(</a:t>
            </a:r>
            <a:r>
              <a:rPr lang="en-IN" sz="2000" dirty="0" err="1"/>
              <a:t>IndexedDB</a:t>
            </a:r>
            <a:r>
              <a:rPr lang="en-IN" sz="2000" dirty="0"/>
              <a:t>) for offline access and MongoDB is the central backend storage to store only encrypted content blobs.</a:t>
            </a:r>
          </a:p>
          <a:p>
            <a:r>
              <a:rPr lang="en-IN" sz="2000" dirty="0"/>
              <a:t>On reconnect , system uses CRDT(Conflict free Replicated Data Type) algorithm to merge changes without overwriting and data loss of edits.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7886" y="3191321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4604742"/>
            <a:ext cx="16392228" cy="422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6"/>
              </a:lnSpc>
            </a:pPr>
            <a:r>
              <a:rPr lang="en-US" sz="302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combining client-side encryption, an offline-first architecture, and CRDT-based conflict resolution, the proposed CMS achieves three primary goals: continuous availability for authors working in low-connectivity environments, cryptographic privacy so servers cannot read user content, and deterministic, lossless synchronization across devices. This approach reduces risks associated with network outages and third-party synchronization while simplifying the end-user experience: authors can create, edit, and publish content without concern for connectivity or unauthorized data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15977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7886" y="2737991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886" y="4237388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federated servers for cross-organization content sharing.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4982160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native app clients reusing the CRDT + encryption stack.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512" y="5663454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Encrypted version history with searchable encrypted indices.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6321072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research into passphrase management (hardware keys, social recovery).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886" y="7044554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dirty="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AI features (local models) for content suggestions while preserving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7886" y="2737991"/>
            <a:ext cx="712693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86" y="4151411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u="sng">
                <a:solidFill>
                  <a:srgbClr val="359DD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FieldDB/FieldDB"/>
              </a:rPr>
              <a:t>https://github.com/FieldDB/FieldDB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886" y="4679454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u="sng">
                <a:solidFill>
                  <a:srgbClr val="359DD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github.com/lybekk/offPIM"/>
              </a:rPr>
              <a:t>https://github.com/lybekk/offPIM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5207496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u="sng">
                <a:solidFill>
                  <a:srgbClr val="359DD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en.wikipedia.org/wiki/Hoodie_%28software%29"/>
              </a:rPr>
              <a:t>https://en.wikipedia.org/wiki/Hoodie_(software)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5735539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u="sng">
                <a:solidFill>
                  <a:srgbClr val="359DD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cushiondb.github.io/"/>
              </a:rPr>
              <a:t>https://cushiondb.github.io/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6263580"/>
            <a:ext cx="16392228" cy="62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u="sng">
                <a:solidFill>
                  <a:srgbClr val="359DD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www.sitepoint.com/offline-web-apps-service-workers-pouchdb/"/>
              </a:rPr>
              <a:t>https://www.sitepoint.com/offline-web-apps-service-workers-pouchdb/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886" y="6791622"/>
            <a:ext cx="16392228" cy="122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454" lvl="1" indent="-227727" algn="l">
              <a:lnSpc>
                <a:spcPts val="4796"/>
              </a:lnSpc>
              <a:buFont typeface="Arial"/>
              <a:buChar char="•"/>
            </a:pPr>
            <a:r>
              <a:rPr lang="en-US" sz="3020" u="sng">
                <a:solidFill>
                  <a:srgbClr val="359DD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arxiv.org/abs/1608.03960"/>
              </a:rPr>
              <a:t>https://arxiv.org/abs/1608.03960</a:t>
            </a:r>
            <a:r>
              <a:rPr lang="en-US" sz="3020">
                <a:solidFill>
                  <a:srgbClr val="3846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(Kleppmann &amp; Beresford — Conflict-free replicated JSON datatype)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1153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Offline-First-Encrypted-Content-Management-System-with-Conflict-Free-Synchronisation.pptx</dc:title>
  <dc:creator>Sam_G3</dc:creator>
  <cp:lastModifiedBy>Gayathri K R</cp:lastModifiedBy>
  <cp:revision>7</cp:revision>
  <dcterms:created xsi:type="dcterms:W3CDTF">2006-08-16T00:00:00Z</dcterms:created>
  <dcterms:modified xsi:type="dcterms:W3CDTF">2025-09-03T17:52:04Z</dcterms:modified>
  <dc:identifier>DAGvsY6Emd0</dc:identifier>
</cp:coreProperties>
</file>